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523"/>
    <p:restoredTop sz="94610"/>
  </p:normalViewPr>
  <p:slideViewPr>
    <p:cSldViewPr snapToGrid="0" snapToObjects="1">
      <p:cViewPr varScale="1">
        <p:scale>
          <a:sx n="169" d="100"/>
          <a:sy n="169" d="100"/>
        </p:scale>
        <p:origin x="192" y="3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75527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kern="0" spc="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MIGRATION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ClassExpert vers SchoolArt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2560320"/>
            <a:ext cx="182880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29260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Groupe ISM — Dakar, Senegal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2918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Rapport d'audit &amp; plan de migration — Mars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Chiffres cles de l'extraction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685800"/>
            <a:ext cx="137160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97280"/>
            <a:ext cx="1920240" cy="1554480"/>
          </a:xfrm>
          <a:prstGeom prst="rect">
            <a:avLst/>
          </a:prstGeom>
          <a:solidFill>
            <a:srgbClr val="F1F5F9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23444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Licences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14884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 done / 8 skip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60320" y="1097280"/>
            <a:ext cx="1920240" cy="1554480"/>
          </a:xfrm>
          <a:prstGeom prst="rect">
            <a:avLst/>
          </a:prstGeom>
          <a:solidFill>
            <a:srgbClr val="F1F5F9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560320" y="123444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2 332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2560320" y="18288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560320" y="214884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ecoles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63440" y="1097280"/>
            <a:ext cx="1920240" cy="1554480"/>
          </a:xfrm>
          <a:prstGeom prst="rect">
            <a:avLst/>
          </a:prstGeom>
          <a:solidFill>
            <a:srgbClr val="F1F5F9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663440" y="123444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31 850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4663440" y="18288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Eleves uniques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663440" y="214884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58 224 bruts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766560" y="1097280"/>
            <a:ext cx="1920240" cy="1554480"/>
          </a:xfrm>
          <a:prstGeom prst="rect">
            <a:avLst/>
          </a:prstGeom>
          <a:solidFill>
            <a:srgbClr val="F1F5F9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766560" y="123444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1.29M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6766560" y="18288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766560" y="214884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1 293 879 entrees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2926080"/>
            <a:ext cx="1920240" cy="1554480"/>
          </a:xfrm>
          <a:prstGeom prst="rect">
            <a:avLst/>
          </a:prstGeom>
          <a:solidFill>
            <a:srgbClr val="F1F5F9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57200" y="306324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</a:t>
            </a:r>
            <a:endParaRPr lang="en-US" sz="3200" dirty="0"/>
          </a:p>
        </p:txBody>
      </p:sp>
      <p:sp>
        <p:nvSpPr>
          <p:cNvPr id="22" name="Text 20"/>
          <p:cNvSpPr/>
          <p:nvPr/>
        </p:nvSpPr>
        <p:spPr>
          <a:xfrm>
            <a:off x="457200" y="36576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Enseignants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7200" y="397764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526 bruts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560320" y="2926080"/>
            <a:ext cx="1920240" cy="1554480"/>
          </a:xfrm>
          <a:prstGeom prst="rect">
            <a:avLst/>
          </a:prstGeom>
          <a:solidFill>
            <a:srgbClr val="F1F5F9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2560320" y="306324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</a:t>
            </a:r>
            <a:endParaRPr lang="en-US" sz="3200" dirty="0"/>
          </a:p>
        </p:txBody>
      </p:sp>
      <p:sp>
        <p:nvSpPr>
          <p:cNvPr id="26" name="Text 24"/>
          <p:cNvSpPr/>
          <p:nvPr/>
        </p:nvSpPr>
        <p:spPr>
          <a:xfrm>
            <a:off x="2560320" y="36576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Nationalites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560320" y="397764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331 brutes normalisees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663440" y="2926080"/>
            <a:ext cx="1920240" cy="1554480"/>
          </a:xfrm>
          <a:prstGeom prst="rect">
            <a:avLst/>
          </a:prstGeom>
          <a:solidFill>
            <a:srgbClr val="F1F5F9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663440" y="306324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4 207</a:t>
            </a:r>
            <a:endParaRPr lang="en-US" sz="3200" dirty="0"/>
          </a:p>
        </p:txBody>
      </p:sp>
      <p:sp>
        <p:nvSpPr>
          <p:cNvPr id="30" name="Text 28"/>
          <p:cNvSpPr/>
          <p:nvPr/>
        </p:nvSpPr>
        <p:spPr>
          <a:xfrm>
            <a:off x="4663440" y="36576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Matieres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63440" y="397764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766560" y="2926080"/>
            <a:ext cx="1920240" cy="1554480"/>
          </a:xfrm>
          <a:prstGeom prst="rect">
            <a:avLst/>
          </a:prstGeom>
          <a:solidFill>
            <a:srgbClr val="F1F5F9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766560" y="306324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ans</a:t>
            </a:r>
            <a:endParaRPr lang="en-US" sz="3200" dirty="0"/>
          </a:p>
        </p:txBody>
      </p:sp>
      <p:sp>
        <p:nvSpPr>
          <p:cNvPr id="34" name="Text 32"/>
          <p:cNvSpPr/>
          <p:nvPr/>
        </p:nvSpPr>
        <p:spPr>
          <a:xfrm>
            <a:off x="6766560" y="36576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Historique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766560" y="397764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2017-2026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Donnees par etablissement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685800"/>
            <a:ext cx="1371600" cy="36576"/>
          </a:xfrm>
          <a:prstGeom prst="rect">
            <a:avLst/>
          </a:prstGeom>
          <a:solidFill>
            <a:srgbClr val="0D9488"/>
          </a:solidFill>
          <a:ln/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7315200" cy="196596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Ecole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A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Annees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A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A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Eleves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A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A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Assiduite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A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Ecole d'Ingénieurs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10 314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307 152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27 343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Ecole de Droit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9 351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246 081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31 386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Ecole de Management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12 562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399 794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62 114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Graduate School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8 167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148 326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35 562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Madiba Leadership Institut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4 477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99 865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11 692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Online &amp; ISF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4 983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33 654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20 466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HQ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3 112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4 536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Qualite des donnees eleves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685800"/>
            <a:ext cx="137160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863013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Sexe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377440" y="908733"/>
            <a:ext cx="4572000" cy="25603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Shape 4"/>
          <p:cNvSpPr/>
          <p:nvPr/>
        </p:nvSpPr>
        <p:spPr>
          <a:xfrm>
            <a:off x="2377440" y="908733"/>
            <a:ext cx="4174236" cy="256032"/>
          </a:xfrm>
          <a:prstGeom prst="rect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7" name="Text 5"/>
          <p:cNvSpPr/>
          <p:nvPr/>
        </p:nvSpPr>
        <p:spPr>
          <a:xfrm>
            <a:off x="7132320" y="863013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91.3%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1223862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Nationalite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377440" y="1269582"/>
            <a:ext cx="4572000" cy="25603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0" name="Shape 8"/>
          <p:cNvSpPr/>
          <p:nvPr/>
        </p:nvSpPr>
        <p:spPr>
          <a:xfrm>
            <a:off x="2377440" y="1269582"/>
            <a:ext cx="3982212" cy="256032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1" name="Text 9"/>
          <p:cNvSpPr/>
          <p:nvPr/>
        </p:nvSpPr>
        <p:spPr>
          <a:xfrm>
            <a:off x="7132320" y="1223862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87.1%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1577154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 naissance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377440" y="1622874"/>
            <a:ext cx="4572000" cy="25603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4" name="Shape 12"/>
          <p:cNvSpPr/>
          <p:nvPr/>
        </p:nvSpPr>
        <p:spPr>
          <a:xfrm>
            <a:off x="2377440" y="1622874"/>
            <a:ext cx="4192524" cy="25603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7132320" y="1577154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91.7%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1922889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E-mail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377440" y="1968609"/>
            <a:ext cx="4572000" cy="25603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8" name="Shape 16"/>
          <p:cNvSpPr/>
          <p:nvPr/>
        </p:nvSpPr>
        <p:spPr>
          <a:xfrm>
            <a:off x="2377440" y="1968609"/>
            <a:ext cx="3602736" cy="256032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9" name="Text 17"/>
          <p:cNvSpPr/>
          <p:nvPr/>
        </p:nvSpPr>
        <p:spPr>
          <a:xfrm>
            <a:off x="7132320" y="1922889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78.8%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2261067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Telephone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377440" y="2306787"/>
            <a:ext cx="4572000" cy="25603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2" name="Shape 20"/>
          <p:cNvSpPr/>
          <p:nvPr/>
        </p:nvSpPr>
        <p:spPr>
          <a:xfrm>
            <a:off x="2377440" y="2306787"/>
            <a:ext cx="3396996" cy="256032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3" name="Text 21"/>
          <p:cNvSpPr/>
          <p:nvPr/>
        </p:nvSpPr>
        <p:spPr>
          <a:xfrm>
            <a:off x="7132320" y="2261067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74.3%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57200" y="4572000"/>
            <a:ext cx="8229600" cy="3657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2895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Problemes identifies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57200" y="321552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331 variantes de </a:t>
            </a:r>
            <a:r>
              <a:rPr lang="en-US" sz="1100" dirty="0" err="1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nationalite</a:t>
            </a:r>
            <a:br>
              <a:rPr lang="en-US" sz="1100" dirty="0"/>
            </a:br>
            <a:r>
              <a:rPr lang="en-US" sz="1100" dirty="0" err="1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reduites</a:t>
            </a: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52 apres nettoyage (typos, villes, doublons)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35/65 licences avec des </a:t>
            </a:r>
            <a:r>
              <a:rPr lang="en-US" sz="1100" dirty="0" err="1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ressources</a:t>
            </a:r>
            <a:r>
              <a:rPr lang="en-US" sz="11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00" dirty="0" err="1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manquantes</a:t>
            </a:r>
            <a:br>
              <a:rPr lang="en-US" sz="1100" dirty="0"/>
            </a:b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(notes ou assiduite non scrapees pour certaines classes)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45% de doublons eleves inter-licences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Systeme destination : SchoolArt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685800"/>
            <a:ext cx="137160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05840"/>
            <a:ext cx="2560320" cy="2377440"/>
          </a:xfrm>
          <a:prstGeom prst="rect">
            <a:avLst/>
          </a:prstGeom>
          <a:solidFill>
            <a:srgbClr val="F1F5F9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05840"/>
            <a:ext cx="2560320" cy="457200"/>
          </a:xfrm>
          <a:prstGeom prst="rect">
            <a:avLst/>
          </a:prstGeom>
          <a:solidFill>
            <a:srgbClr val="1E5A8A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5156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155448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Symfony 7.2</a:t>
            </a:r>
            <a:endParaRPr lang="en-US" sz="11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Platform 3.0</a:t>
            </a:r>
            <a:endParaRPr lang="en-US" sz="11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MySQL / Doctrine ORM</a:t>
            </a:r>
            <a:endParaRPr lang="en-US" sz="11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85+ entites</a:t>
            </a:r>
            <a:endParaRPr lang="en-US" sz="11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controllers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91840" y="1005840"/>
            <a:ext cx="2560320" cy="2377440"/>
          </a:xfrm>
          <a:prstGeom prst="rect">
            <a:avLst/>
          </a:prstGeom>
          <a:solidFill>
            <a:srgbClr val="F1F5F9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91840" y="1005840"/>
            <a:ext cx="2560320" cy="4572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0" name="Text 8"/>
          <p:cNvSpPr/>
          <p:nvPr/>
        </p:nvSpPr>
        <p:spPr>
          <a:xfrm>
            <a:off x="3291840" y="105156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474720" y="155448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Angular 14</a:t>
            </a:r>
            <a:endParaRPr lang="en-US" sz="11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Angular Material</a:t>
            </a:r>
            <a:endParaRPr lang="en-US" sz="11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80+ services</a:t>
            </a:r>
            <a:endParaRPr lang="en-US" sz="11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Highcharts / PDFTron</a:t>
            </a:r>
            <a:endParaRPr lang="en-US" sz="11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JWT Auth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26480" y="1005840"/>
            <a:ext cx="2560320" cy="2377440"/>
          </a:xfrm>
          <a:prstGeom prst="rect">
            <a:avLst/>
          </a:prstGeom>
          <a:solidFill>
            <a:srgbClr val="F1F5F9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126480" y="1005840"/>
            <a:ext cx="2560320" cy="4572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4" name="Text 12"/>
          <p:cNvSpPr/>
          <p:nvPr/>
        </p:nvSpPr>
        <p:spPr>
          <a:xfrm>
            <a:off x="6126480" y="105156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Domaines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309360" y="155448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Scolarite</a:t>
            </a:r>
            <a:endParaRPr lang="en-US" sz="11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Financier</a:t>
            </a:r>
            <a:endParaRPr lang="en-US" sz="11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Administration</a:t>
            </a:r>
            <a:endParaRPr lang="en-US" sz="11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Documents</a:t>
            </a:r>
            <a:endParaRPr lang="en-US" sz="11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Interconnexion API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Ecarts ClassExpert vs SchoolArt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57200" y="4023927"/>
            <a:ext cx="8229600" cy="10611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financier complet (factures, paiements, bourses) : absent de ClassExpert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Generation de documents (bulletins, attestations, cartes) : a creer dans SchoolArt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Gestion des permissions granulaires (Profile/Droit) : configuration manuelle requise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Photos, planning, sanctions, soutenances : non disponibles dans ClassExpert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Mapping source vers destination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685800"/>
            <a:ext cx="1371600" cy="36576"/>
          </a:xfrm>
          <a:prstGeom prst="rect">
            <a:avLst/>
          </a:prstGeom>
          <a:solidFill>
            <a:srgbClr val="0D9488"/>
          </a:solidFill>
          <a:ln/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7498080" cy="219456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 ClassExpert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A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Entite SchoolArt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A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Champs principaux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A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Risque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A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pupils.json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Etudiant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Nom, Prenom, Sexe, Email...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Faible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_notes/*.json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CC, Examen, Matiere, Periode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Moyen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_assiduite/*.json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Absence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Absences, Justifiees, Periode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Faible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class_fields.json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Matiere + Ue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Coeff, Bareme, Credits, Prof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Moyen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main.json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Classe + Niveau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Nom, Niveau, Filiere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Eleve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teachers.json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Professeur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Nom complet a decomposer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Eleve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periods.json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Periode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Nom, Dates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Faible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Dossier licence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 + Annee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Ecole, Annee scolaire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Faible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de migration — 8 semaines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685800"/>
            <a:ext cx="137160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78992"/>
            <a:ext cx="502920" cy="50292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07899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97280" y="100584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Preparation  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97280" y="129844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S1-S2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926080" y="1005840"/>
            <a:ext cx="5760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Finaliser extraction, nettoyage nationalites/notes/doublons, export JSON normalise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1600200"/>
            <a:ext cx="36576" cy="228600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" y="1883664"/>
            <a:ext cx="502920" cy="502920"/>
          </a:xfrm>
          <a:prstGeom prst="ellipse">
            <a:avLst/>
          </a:prstGeom>
          <a:solidFill>
            <a:srgbClr val="1E5A8A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188366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97280" y="1810512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Scripts d'import  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97280" y="21031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5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S3-S4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926080" y="1810512"/>
            <a:ext cx="5760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Commandes Symfony par entite, gestion doublons, mode dry-run, logs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85800" y="2404872"/>
            <a:ext cx="36576" cy="228600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" y="2688336"/>
            <a:ext cx="502920" cy="502920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268833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097280" y="2615184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Migration pilote  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97280" y="290779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S5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926080" y="2615184"/>
            <a:ext cx="5760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ecole en test, verification integrite, validation frontend Angular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85800" y="3209544"/>
            <a:ext cx="36576" cy="228600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22" name="Shape 20"/>
          <p:cNvSpPr/>
          <p:nvPr/>
        </p:nvSpPr>
        <p:spPr>
          <a:xfrm>
            <a:off x="457200" y="3493008"/>
            <a:ext cx="502920" cy="50292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349300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97280" y="3419856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Migration complete  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97280" y="371246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S6-S7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926080" y="3419856"/>
            <a:ext cx="5760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Toutes les ecoles, controles de coherence, alimentation modules manuels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85800" y="4014216"/>
            <a:ext cx="36576" cy="228600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28" name="Shape 26"/>
          <p:cNvSpPr/>
          <p:nvPr/>
        </p:nvSpPr>
        <p:spPr>
          <a:xfrm>
            <a:off x="457200" y="4297680"/>
            <a:ext cx="502920" cy="502920"/>
          </a:xfrm>
          <a:prstGeom prst="ellipse">
            <a:avLst/>
          </a:prstGeom>
          <a:solidFill>
            <a:srgbClr val="1A1A2E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2976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097280" y="4224528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Bascule &amp; suivi  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097280" y="4517136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S8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2926080" y="4224528"/>
            <a:ext cx="5760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Sync incrementale, formation utilisateurs, desactivation ClassExpert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Recommandations cles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685800"/>
            <a:ext cx="137160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05840"/>
            <a:ext cx="2560320" cy="2926080"/>
          </a:xfrm>
          <a:prstGeom prst="rect">
            <a:avLst/>
          </a:prstGeom>
          <a:solidFill>
            <a:srgbClr val="F1F5F9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05840"/>
            <a:ext cx="73152" cy="292608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0972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Nettoyage critique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554480"/>
            <a:ext cx="21945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Nationalites (algo Levenshtein)</a:t>
            </a:r>
            <a:endParaRPr lang="en-US" sz="11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Notes format FR &gt; numerique</a:t>
            </a:r>
            <a:endParaRPr lang="en-US" sz="11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Deduplication 31 850 uniques / 58 224 bruts</a:t>
            </a:r>
            <a:endParaRPr lang="en-US" sz="11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Relancer scraper sur 35 licences incompletes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91840" y="1005840"/>
            <a:ext cx="2560320" cy="2926080"/>
          </a:xfrm>
          <a:prstGeom prst="rect">
            <a:avLst/>
          </a:prstGeom>
          <a:solidFill>
            <a:srgbClr val="F1F5F9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91840" y="1005840"/>
            <a:ext cx="73152" cy="292608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10972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Enrichissement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74720" y="1554480"/>
            <a:ext cx="21945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 sexe par prenom</a:t>
            </a:r>
            <a:endParaRPr lang="en-US" sz="11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Generation emails institutionnels</a:t>
            </a:r>
            <a:endParaRPr lang="en-US" sz="11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Decomposition noms enseignants</a:t>
            </a:r>
            <a:endParaRPr lang="en-US" sz="11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Mapping niveaux (L1-M2)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26480" y="1005840"/>
            <a:ext cx="2560320" cy="2926080"/>
          </a:xfrm>
          <a:prstGeom prst="rect">
            <a:avLst/>
          </a:prstGeom>
          <a:solidFill>
            <a:srgbClr val="F1F5F9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126480" y="1005840"/>
            <a:ext cx="73152" cy="292608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14" name="Text 12"/>
          <p:cNvSpPr/>
          <p:nvPr/>
        </p:nvSpPr>
        <p:spPr>
          <a:xfrm>
            <a:off x="6309360" y="10972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 migrable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09360" y="1554480"/>
            <a:ext cx="21945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Donnees financieres (manuel)</a:t>
            </a:r>
            <a:endParaRPr lang="en-US" sz="11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Photos identite</a:t>
            </a:r>
            <a:endParaRPr lang="en-US" sz="11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Planning / emplois du temps</a:t>
            </a:r>
            <a:endParaRPr lang="en-US" sz="11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Sanctions, soutenances, documents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4206240"/>
            <a:ext cx="8229600" cy="3657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Risque principal : resistance au changement — prevoir formation et periode de cohabitation des 2 systemes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kern="0" spc="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PROCHAINES ETAPES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737360"/>
            <a:ext cx="182880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10312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</a:t>
            </a: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Valider les donnees nettoyees via le dashboard temps reel</a:t>
            </a:r>
            <a:endParaRPr lang="en-US" sz="16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</a:t>
            </a: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Completer les extractions manquantes (35 licences)</a:t>
            </a:r>
            <a:endParaRPr lang="en-US" sz="16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</a:t>
            </a: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Developper les scripts d'import Symfony</a:t>
            </a:r>
            <a:endParaRPr lang="en-US" sz="16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</a:t>
            </a: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Lancer la migration pilote sur 1 ecole</a:t>
            </a:r>
            <a:endParaRPr lang="en-US" sz="16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</a:t>
            </a: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Planifier la formation et la bascule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38912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Groupe ISM — Mars 2026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554</TotalTime>
  <Words>603</Words>
  <Application>Microsoft Macintosh PowerPoint</Application>
  <PresentationFormat>Affichage à l'écran (16:9)</PresentationFormat>
  <Paragraphs>208</Paragraphs>
  <Slides>9</Slides>
  <Notes>9</Notes>
  <HiddenSlides>0</HiddenSlides>
  <MMClips>0</MMClips>
  <ScaleCrop>false</ScaleCrop>
  <HeadingPairs>
    <vt:vector size="6" baseType="variant">
      <vt:variant>
        <vt:lpstr>Polices utilisées</vt:lpstr>
      </vt:variant>
      <vt:variant>
        <vt:i4>1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9</vt:i4>
      </vt:variant>
    </vt:vector>
  </HeadingPairs>
  <TitlesOfParts>
    <vt:vector size="11" baseType="lpstr">
      <vt:lpstr>Arial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Migration ClassExpert — SchoolArt</dc:title>
  <dc:subject>PptxGenJS Presentation</dc:subject>
  <dc:creator>Groupe ISM</dc:creator>
  <cp:lastModifiedBy>Zack Abess</cp:lastModifiedBy>
  <cp:revision>2</cp:revision>
  <dcterms:created xsi:type="dcterms:W3CDTF">2026-03-30T23:21:59Z</dcterms:created>
  <dcterms:modified xsi:type="dcterms:W3CDTF">2026-03-31T08:39:57Z</dcterms:modified>
</cp:coreProperties>
</file>